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10" r:id="rId15"/>
    <p:sldId id="311" r:id="rId16"/>
    <p:sldId id="309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74E1C-1808-45B2-B75C-4D9001095507}" type="datetime1">
              <a:rPr lang="es-ES" smtClean="0"/>
              <a:t>14/11/2025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18C9D-7709-4A95-8F43-BBF0364748E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20285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DD639-B493-4C6F-8888-3252BB671C65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909E6-4FD5-449B-938E-8FE1DD2E6C2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638602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5056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124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496A-65E3-0746-1712-5691145E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35B14E-EECC-C79B-16BB-FA37E1335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786A84-3D61-B716-B353-7429CEA07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8E27E8-5917-BE99-000D-F0C230B87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0426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5CB8-974C-713A-AD6A-EAC415E3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6D080D-71AE-0057-AE02-6349C6232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86D58F-CAC1-4CC7-53D2-9CD2EEE0B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CF656A-CB66-5A6E-82C7-583108EF7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0443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C711E-8A97-EF90-CBA5-59F6971B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B35600-780C-2EF6-27F4-7B2BC641C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5D5C96-3AF6-9931-2FC2-232ABD72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63AFC-E16F-A840-CA8F-E854C82BA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7528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B17B-97BF-C2E0-F95A-423B4180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64E942-35F1-C1A0-B409-0FFED0537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C052DC-DCCF-28ED-013E-3FA15DEE9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680817-BECB-67FE-1671-3741B6CAB1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6451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278B-5F5B-6463-CE0C-FBE8809F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37900F-3E4F-BD84-A7B5-8945C88A6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C28846-526A-37EE-47F9-C283360BD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EA84DB-921A-3F32-2296-AD56E9888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1239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14D2-124B-427E-1716-14FE00D6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56BFDC-6A84-FECD-08B7-467ED7EDE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9C2D2A-8571-E9C1-5071-401640CA7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FB9F9B-63DB-587F-75F7-D1046A962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562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49DF-6335-A572-9FE6-F17B1DE83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374E3D-5C7B-2570-3F9F-C9AC9AAA2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505B40-7784-C7FC-BC96-CBDC97FC5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767B08-9514-31C8-2240-2219A395D6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6603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8A1A-77AC-CCCE-91D5-4E34002A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ACA705-3A79-C74A-CAE3-07FA31CED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99D5EF-059C-1C94-09EC-FE915BA83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F4759D-1864-489C-1880-6FEF2C248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8176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F029-BFBB-0FFD-2C39-306F3E94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156D49-F016-085C-3264-228B7DED8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460503-669A-CABA-7A21-D8FADC739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2D2881-9683-9632-36DC-69707E67D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8239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002C-556C-5243-97E6-E6AFBAC1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090E7E-9CF9-2A74-293E-3C73ACF6D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39888E-90E1-0BC0-E926-61D06EA1D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46AC3B-D105-1CE1-A5C2-9F73AF6C7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1122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F916-92D9-DBFB-C790-E731A4A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7E14FD-5375-AD8F-D484-0AB84D76B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D26C79-B807-8723-92D8-8B6D95BB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2496CA-FABD-3956-68D1-7D585685E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9461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1EE7-6391-4B0F-A389-9C3DF15A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F20B26-9827-84D6-62ED-16297247A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08D15D-E6BB-15D6-72AE-3C3E09212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2A9714-9581-2779-3604-5536D5882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2501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179A-B552-1C06-F738-560032FF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0D058D-639F-55D5-964E-22D5C5AF7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926B32-D9F4-C49B-1A2D-2AE2B308D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4D895F-3C2E-3FD8-4E35-4AA4A847B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1490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A51C-B8EE-DAF2-EA52-D0232416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8CB9C6-076F-3658-79EC-07168C054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819B94-5FF7-7230-21E9-2E3B961E1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9ED4D7-98AF-4272-4F95-F29F81688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8838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1F94-89D0-3C21-B80D-F796056F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AA4ABB-2F80-F4FB-956B-91F24616B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6F59FE-8D1C-0305-3594-A350BF013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F86FD8-C8D9-554F-B53E-10D2EDD45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5609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EEAB-6145-A324-F643-67F07D22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60C198-C869-17C2-0C0E-CF3D59A76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521892-858C-D242-B79B-A6B8241C6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B3C3A2-0C8B-E4DB-29A6-A4C3561A1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6564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4825-38C8-BEF9-CE5F-5451A278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AC51E3-4680-ACE7-C521-34FC40DB9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3D61C9-73AB-EF27-E9CB-940B3D9EE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FD07B-A55B-47DF-0E75-304151AAF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2887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F4853-F5C2-EB56-0D34-EBAA4239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EB71F9-3049-7CB4-D21A-AD6F0E81E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86F853-6DDF-B05A-B908-06CE4BDC9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C135BE-7524-46FE-D1E4-3DEC27088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2252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C3C5-BFE5-9701-03B3-19C6CFA2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29E359-9E72-E0AE-D9D0-E7D50541D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412C3F-FD94-1293-0160-B0467047A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747A89-B646-5F6E-11E8-293DC4D89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3779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27D3-0A5A-F130-787F-0165909B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297628-A478-061E-2B9B-B2044FDD9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38820C-997A-6491-82CD-A9507E9C5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18AE91-1CC7-E0AC-4E10-5984DBC78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6559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3173-9328-913E-5CBC-67F12521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343D6E-18CB-4A38-1026-1849D088A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AB89D2-18F2-792E-54AE-21F585B6F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44C0E5-0D16-3662-9E36-7730F657D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3828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9D2E-4262-4D66-B695-BE788D84072B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17B069-C176-49CE-B015-141C4094D82C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5FED23-3BF1-4A68-B660-492C651EE795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C27429-2C82-4C57-B7CC-62FE9723E4EF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49BD86-8774-44D6-B764-617249AD43F8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B9C095-47B6-40E6-B8B1-485026BAA979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90C87F-AA4E-4F2C-9C29-897EAC3BF71A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8398048-5A25-40D5-B468-A26206AE4AA8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99645712-319F-4E90-BCEB-D987D92F516A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D1FE31BA-0339-46EE-ACF7-DCEDA255DE2F}" type="datetime1">
              <a:rPr lang="es-ES" noProof="0" smtClean="0"/>
              <a:t>14/11/2025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Imagen 3" descr="Un trozo de papel con un lápiz situado encima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9334" y="1475234"/>
            <a:ext cx="3635926" cy="2901694"/>
          </a:xfrm>
        </p:spPr>
        <p:txBody>
          <a:bodyPr rtlCol="0" anchor="b">
            <a:normAutofit/>
          </a:bodyPr>
          <a:lstStyle/>
          <a:p>
            <a:r>
              <a:rPr lang="es-ES" sz="4400" dirty="0">
                <a:solidFill>
                  <a:schemeClr val="tx1"/>
                </a:solidFill>
              </a:rPr>
              <a:t>Información de Fondos de Inversión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es-ES" sz="1600" dirty="0"/>
              <a:t>SMART DATA</a:t>
            </a:r>
          </a:p>
          <a:p>
            <a:pPr rtl="0">
              <a:lnSpc>
                <a:spcPct val="100000"/>
              </a:lnSpc>
            </a:pPr>
            <a:r>
              <a:rPr lang="es-ES" sz="1600" dirty="0"/>
              <a:t>RAUL MENDOZA QUISPE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Contenido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763037"/>
              </p:ext>
            </p:extLst>
          </p:nvPr>
        </p:nvGraphicFramePr>
        <p:xfrm>
          <a:off x="1096963" y="2216879"/>
          <a:ext cx="10058400" cy="1646660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pPr rtl="0"/>
                      <a:r>
                        <a:rPr lang="es-ES" sz="2400" b="0" cap="all" spc="150" noProof="0" dirty="0">
                          <a:solidFill>
                            <a:schemeClr val="lt1"/>
                          </a:solidFill>
                        </a:rPr>
                        <a:t>PREPARACION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2400" b="0" cap="all" spc="150" noProof="0" dirty="0">
                          <a:solidFill>
                            <a:schemeClr val="lt1"/>
                          </a:solidFill>
                        </a:rPr>
                        <a:t>INGESTA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2400" b="0" cap="all" spc="150" noProof="0" dirty="0">
                          <a:solidFill>
                            <a:schemeClr val="lt1"/>
                          </a:solidFill>
                        </a:rPr>
                        <a:t>TRANSFORMA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2400" b="0" cap="all" spc="150" noProof="0" dirty="0">
                          <a:solidFill>
                            <a:schemeClr val="lt1"/>
                          </a:solidFill>
                        </a:rPr>
                        <a:t>CARGA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rtl="0"/>
                      <a:r>
                        <a:rPr lang="es-ES" sz="1400" cap="none" spc="0" noProof="0" dirty="0">
                          <a:solidFill>
                            <a:schemeClr val="tx1"/>
                          </a:solidFill>
                        </a:rPr>
                        <a:t>Preparación del ambiente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cap="none" spc="0" noProof="0" dirty="0">
                          <a:solidFill>
                            <a:schemeClr val="tx1"/>
                          </a:solidFill>
                        </a:rPr>
                        <a:t>Extracción de insumos en formato </a:t>
                      </a:r>
                      <a:r>
                        <a:rPr lang="es-ES" sz="1400" cap="none" spc="0" noProof="0" dirty="0" err="1">
                          <a:solidFill>
                            <a:schemeClr val="tx1"/>
                          </a:solidFill>
                        </a:rPr>
                        <a:t>csv</a:t>
                      </a:r>
                      <a:endParaRPr lang="es-ES" sz="1400" cap="none" spc="0" noProof="0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endParaRPr lang="es-ES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cap="none" spc="0" noProof="0" dirty="0">
                          <a:solidFill>
                            <a:schemeClr val="tx1"/>
                          </a:solidFill>
                        </a:rPr>
                        <a:t>Trasformación de la información</a:t>
                      </a:r>
                    </a:p>
                    <a:p>
                      <a:pPr rtl="0"/>
                      <a:endParaRPr lang="es-ES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cap="none" spc="0" noProof="0" dirty="0" err="1">
                          <a:solidFill>
                            <a:schemeClr val="tx1"/>
                          </a:solidFill>
                        </a:rPr>
                        <a:t>Disponibilizar</a:t>
                      </a:r>
                      <a:r>
                        <a:rPr lang="es-ES" sz="1400" cap="none" spc="0" noProof="0" dirty="0">
                          <a:solidFill>
                            <a:schemeClr val="tx1"/>
                          </a:solidFill>
                        </a:rPr>
                        <a:t> la información</a:t>
                      </a:r>
                    </a:p>
                    <a:p>
                      <a:pPr rtl="0"/>
                      <a:endParaRPr lang="es-ES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C577D-EAFD-A80C-1D9C-DE76D971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F17AE-A121-43C5-2E6B-42ADA432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Pasos</a:t>
            </a:r>
          </a:p>
        </p:txBody>
      </p:sp>
      <p:sp>
        <p:nvSpPr>
          <p:cNvPr id="6" name="Google Shape;695;p63">
            <a:extLst>
              <a:ext uri="{FF2B5EF4-FFF2-40B4-BE49-F238E27FC236}">
                <a16:creationId xmlns:a16="http://schemas.microsoft.com/office/drawing/2014/main" id="{F4C58AAA-77BD-F383-15A4-BA331870BEA7}"/>
              </a:ext>
            </a:extLst>
          </p:cNvPr>
          <p:cNvSpPr txBox="1">
            <a:spLocks/>
          </p:cNvSpPr>
          <p:nvPr/>
        </p:nvSpPr>
        <p:spPr>
          <a:xfrm>
            <a:off x="4968049" y="2685374"/>
            <a:ext cx="4270543" cy="256454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Contiene:</a:t>
            </a:r>
            <a:br>
              <a:rPr lang="es-PE" dirty="0"/>
            </a:br>
            <a:r>
              <a:rPr lang="es-PE" dirty="0"/>
              <a:t>0_preparacion_ambientre.py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1_ingesta.py</a:t>
            </a:r>
            <a:br>
              <a:rPr lang="es-PE" dirty="0"/>
            </a:br>
            <a:r>
              <a:rPr lang="es-PE" dirty="0"/>
              <a:t>2_transform.py</a:t>
            </a:r>
            <a:br>
              <a:rPr lang="es-PE" dirty="0"/>
            </a:br>
            <a:r>
              <a:rPr lang="es-PE" dirty="0"/>
              <a:t>3_load.py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None/>
            </a:pPr>
            <a:br>
              <a:rPr lang="es-PE" dirty="0"/>
            </a:br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3494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9348-7F4D-9B16-BC3C-AD07CC2D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199F7-ABC4-2D8A-6FD9-08269A1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Crear el servicio en Portal Azure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4F65656-253D-20AB-25EA-2CFD41D61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811478"/>
            <a:ext cx="10440977" cy="535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0CB9-C6C2-3A82-E976-DC2F6881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355D1-766B-BD8A-B5F3-D5E3AA89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aprovisiona el servicio</a:t>
            </a: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771A98E-B68A-B1D6-2E03-B2A5E55F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9" y="1324303"/>
            <a:ext cx="10683662" cy="41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2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80BE-19B0-3D9B-0C09-469ABAB3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1F780-A768-08E6-BC41-F178242A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crea el </a:t>
            </a:r>
            <a:r>
              <a:rPr lang="es-ES" sz="3200" dirty="0" err="1"/>
              <a:t>stogare</a:t>
            </a:r>
            <a:r>
              <a:rPr lang="es-ES" sz="3200" dirty="0"/>
              <a:t> </a:t>
            </a:r>
            <a:r>
              <a:rPr lang="es-ES" sz="3200" dirty="0" err="1"/>
              <a:t>account</a:t>
            </a:r>
            <a:endParaRPr lang="es-ES" sz="3200" dirty="0"/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618CB489-4FA9-BF57-87BA-45C1E43F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957883"/>
            <a:ext cx="10058400" cy="514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1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07F5-3AF0-89DE-EC92-BFE38C51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8024A-D07B-6BBA-0742-74AA91B3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da permiso a la cuenta de almacenamiento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DC60A0-4F97-7F5A-E60A-11EC57EB5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2" y="1534467"/>
            <a:ext cx="11219435" cy="37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9740-60CE-8745-10EE-3C0B6077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E4F2F-44E9-35B4-7140-FE6E31F9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configura el </a:t>
            </a:r>
            <a:r>
              <a:rPr lang="es-ES" sz="3200" dirty="0" err="1"/>
              <a:t>access</a:t>
            </a:r>
            <a:r>
              <a:rPr lang="es-ES" sz="3200" dirty="0"/>
              <a:t> </a:t>
            </a:r>
            <a:r>
              <a:rPr lang="es-ES" sz="3200" dirty="0" err="1"/>
              <a:t>connector</a:t>
            </a:r>
            <a:endParaRPr lang="es-ES" sz="3200" dirty="0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38D47FA-23B3-8F93-6612-5BCE4B5A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02" y="1397482"/>
            <a:ext cx="10550298" cy="33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1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6860-2C04-6E75-EDC2-7E4045F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CDE4C-8A7A-F3F7-C5C4-02DE02F6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configura el </a:t>
            </a:r>
            <a:r>
              <a:rPr lang="es-ES" sz="3200" dirty="0" err="1"/>
              <a:t>credential</a:t>
            </a:r>
            <a:endParaRPr lang="es-ES" sz="3200" dirty="0"/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09FCE3B-7E53-18B8-C14C-68FC5151A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1503362"/>
            <a:ext cx="10315903" cy="385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2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7B0F-E3B5-CF27-AF80-F63F7FFB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5F7E9-DC32-DF14-B428-1865EC81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configura el </a:t>
            </a:r>
            <a:r>
              <a:rPr lang="es-ES" sz="3200" dirty="0" err="1"/>
              <a:t>external</a:t>
            </a:r>
            <a:r>
              <a:rPr lang="es-ES" sz="3200" dirty="0"/>
              <a:t> </a:t>
            </a:r>
            <a:r>
              <a:rPr lang="es-ES" sz="3200" dirty="0" err="1"/>
              <a:t>location</a:t>
            </a:r>
            <a:r>
              <a:rPr lang="es-ES" sz="3200" dirty="0"/>
              <a:t> </a:t>
            </a:r>
            <a:r>
              <a:rPr lang="es-ES" sz="3200" dirty="0" err="1"/>
              <a:t>bronze</a:t>
            </a:r>
            <a:endParaRPr lang="es-ES" sz="3200" dirty="0"/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2BAB1D3A-AC4A-6EC8-2013-0A36078F1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823"/>
          <a:stretch>
            <a:fillRect/>
          </a:stretch>
        </p:blipFill>
        <p:spPr>
          <a:xfrm>
            <a:off x="810435" y="1027780"/>
            <a:ext cx="10446144" cy="50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91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91AF-3962-08E0-EB75-67CF9C7F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6898A-0A90-4CE2-45A2-A10FC361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configura el </a:t>
            </a:r>
            <a:r>
              <a:rPr lang="es-ES" sz="3200" dirty="0" err="1"/>
              <a:t>external</a:t>
            </a:r>
            <a:r>
              <a:rPr lang="es-ES" sz="3200" dirty="0"/>
              <a:t> </a:t>
            </a:r>
            <a:r>
              <a:rPr lang="es-ES" sz="3200" dirty="0" err="1"/>
              <a:t>location</a:t>
            </a:r>
            <a:r>
              <a:rPr lang="es-ES" sz="3200" dirty="0"/>
              <a:t> </a:t>
            </a:r>
            <a:r>
              <a:rPr lang="es-ES" sz="3200" dirty="0" err="1"/>
              <a:t>silver</a:t>
            </a:r>
            <a:endParaRPr lang="es-ES" sz="3200" dirty="0"/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125D8AA-8A0C-68D0-6F31-65B4E372D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00" y="1087820"/>
            <a:ext cx="10828633" cy="510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2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9250-BE04-7C0B-CBCE-5495DB313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B13B4-2871-852A-2B8A-8FF85CE0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5431"/>
            <a:ext cx="10058400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configura el </a:t>
            </a:r>
            <a:r>
              <a:rPr lang="es-ES" sz="3200" dirty="0" err="1"/>
              <a:t>external</a:t>
            </a:r>
            <a:r>
              <a:rPr lang="es-ES" sz="3200" dirty="0"/>
              <a:t> </a:t>
            </a:r>
            <a:r>
              <a:rPr lang="es-ES" sz="3200" dirty="0" err="1"/>
              <a:t>location</a:t>
            </a:r>
            <a:r>
              <a:rPr lang="es-ES" sz="3200" dirty="0"/>
              <a:t> </a:t>
            </a:r>
            <a:r>
              <a:rPr lang="es-ES" sz="3200" dirty="0" err="1"/>
              <a:t>golden</a:t>
            </a:r>
            <a:endParaRPr lang="es-ES" sz="3200" dirty="0"/>
          </a:p>
        </p:txBody>
      </p:sp>
      <p:pic>
        <p:nvPicPr>
          <p:cNvPr id="4" name="Imagen 3" descr="Interfaz de usuario gráfica, Texto, Correo electrónico&#10;&#10;El contenido generado por IA puede ser incorrecto.">
            <a:extLst>
              <a:ext uri="{FF2B5EF4-FFF2-40B4-BE49-F238E27FC236}">
                <a16:creationId xmlns:a16="http://schemas.microsoft.com/office/drawing/2014/main" id="{114B4883-7F99-979C-4F81-917FA2A8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056289"/>
            <a:ext cx="10429240" cy="511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4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842B-F12A-8C73-27B8-81023BA2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A9391-6EFF-3B50-55CF-84B90BEF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crear el </a:t>
            </a:r>
            <a:r>
              <a:rPr lang="es-ES" sz="3200" dirty="0" err="1"/>
              <a:t>metastore</a:t>
            </a:r>
            <a:r>
              <a:rPr lang="es-ES" sz="3200" dirty="0"/>
              <a:t> para gobernar en </a:t>
            </a:r>
            <a:r>
              <a:rPr lang="es-ES" sz="3200" dirty="0" err="1"/>
              <a:t>Unit</a:t>
            </a:r>
            <a:r>
              <a:rPr lang="es-ES" sz="3200" dirty="0"/>
              <a:t> </a:t>
            </a:r>
            <a:r>
              <a:rPr lang="es-ES" sz="3200" dirty="0" err="1"/>
              <a:t>Catalog</a:t>
            </a:r>
            <a:endParaRPr lang="es-ES" sz="3200" dirty="0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32F2564-77C5-CCA9-BAF5-7357B8A89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890306"/>
            <a:ext cx="10315903" cy="532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3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0E22-0330-AF14-E881-BB6377E5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3F00E-6B4C-299C-8D7C-62518DCC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Se crear </a:t>
            </a:r>
            <a:r>
              <a:rPr lang="es-ES" sz="3200" dirty="0" err="1"/>
              <a:t>workspace</a:t>
            </a:r>
            <a:endParaRPr lang="es-E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B2428C-2A18-AE48-EF62-8EBC3981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7" y="1218891"/>
            <a:ext cx="11117226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4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96609-8991-6D17-EFF2-54B44DF9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2FD55-F1C5-6DB4-1ED5-A1E665E4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 err="1"/>
              <a:t>Contanier</a:t>
            </a:r>
            <a:r>
              <a:rPr lang="es-ES" sz="3200" dirty="0"/>
              <a:t> </a:t>
            </a:r>
            <a:r>
              <a:rPr lang="es-ES" sz="3200" dirty="0" err="1"/>
              <a:t>metastore</a:t>
            </a:r>
            <a:r>
              <a:rPr lang="es-ES" sz="3200" dirty="0"/>
              <a:t> y </a:t>
            </a:r>
            <a:r>
              <a:rPr lang="es-ES" sz="3200" dirty="0" err="1"/>
              <a:t>contanier</a:t>
            </a:r>
            <a:r>
              <a:rPr lang="es-ES" sz="3200" dirty="0"/>
              <a:t> asociados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44F26A-695F-8932-A6DA-670A83D8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49" y="1537872"/>
            <a:ext cx="11389360" cy="378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28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7ECD-E0AA-80D9-200A-E70B4A16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5E866-F43A-CFE7-C6BB-1B8A35D8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Creación de catálogo y sus esquemas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C3EAC9-B00C-1155-70F1-CC06BC76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60" y="1068755"/>
            <a:ext cx="10626942" cy="529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3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B3DE-CBB3-1964-4A82-4D13502E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A90BD-293F-8B25-322B-98D83467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Insumos en la capa Raw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41005F-192B-00E5-F314-79BA2926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12" y="1468410"/>
            <a:ext cx="11301176" cy="39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9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D2F6-843E-1C6C-629A-4CEEC4ADD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53920-A406-141D-B8D4-E69F2610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Container para el registro a nivel de capas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0F18CA-4E53-ABB0-EE81-309676DD2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54" y="1207705"/>
            <a:ext cx="10977387" cy="443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5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2F68-50D9-9EF8-40A0-47465D96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D2448-6ADA-B61E-6144-C77B5DAC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Capa </a:t>
            </a:r>
            <a:r>
              <a:rPr lang="es-ES" sz="3200" dirty="0" err="1"/>
              <a:t>Bronze</a:t>
            </a:r>
            <a:endParaRPr lang="es-E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2376F5-A0FE-4C6B-BE03-B911F5E1A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87" y="1150883"/>
            <a:ext cx="9921767" cy="497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91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28AE-E666-AE60-C534-1E3EA84B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53EB1-07E1-882B-4387-FCFEA652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Capa Silver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61B9E5-46F8-7368-0BBD-532C5587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91" y="1076489"/>
            <a:ext cx="10315903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64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0FB4-5BED-06F2-0026-841663B7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10B64-0426-46CE-04AA-1859C1FB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/>
              <a:t>Capa Golden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87C86F-2FE8-DA2B-B81F-C84812911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8" y="1343025"/>
            <a:ext cx="10158249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40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086E-DA48-FF6D-3CA6-42459E37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5A0ED-11E0-853E-CCA0-2588F140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365431"/>
            <a:ext cx="10315903" cy="52487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3200" dirty="0" err="1"/>
              <a:t>Disponibilizando</a:t>
            </a:r>
            <a:r>
              <a:rPr lang="es-ES" sz="3200" dirty="0"/>
              <a:t> información de la capa Golden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3745AD-6F93-49E5-6449-FBC963A9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38" y="1004887"/>
            <a:ext cx="104203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04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2B07-0CBF-4A2F-E0F4-412FC2E6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FE552-799B-9538-84AA-6099FABC7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65" y="378373"/>
            <a:ext cx="10315903" cy="1426333"/>
          </a:xfr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s-ES" sz="9600" b="1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19996899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08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{2BDA4CD9-71DC-49D3-B6AD-B9880008C047}TFb63a7776-4452-49b2-8055-21efce632b7277ed19ef_win32-40747e8f5a52</Template>
  <TotalTime>38</TotalTime>
  <Words>183</Words>
  <Application>Microsoft Office PowerPoint</Application>
  <PresentationFormat>Panorámica</PresentationFormat>
  <Paragraphs>59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Bookman Old Style</vt:lpstr>
      <vt:lpstr>Calibri</vt:lpstr>
      <vt:lpstr>Franklin Gothic Book</vt:lpstr>
      <vt:lpstr>Personalizado</vt:lpstr>
      <vt:lpstr>Información de Fondos de Inversión</vt:lpstr>
      <vt:lpstr>Contenido</vt:lpstr>
      <vt:lpstr>Pasos</vt:lpstr>
      <vt:lpstr>Crear el servicio en Portal Azure</vt:lpstr>
      <vt:lpstr>Se aprovisiona el servicio</vt:lpstr>
      <vt:lpstr>Se crea el stogare account</vt:lpstr>
      <vt:lpstr>Se da permiso a la cuenta de almacenamiento</vt:lpstr>
      <vt:lpstr>Se configura el access connector</vt:lpstr>
      <vt:lpstr>Se configura el credential</vt:lpstr>
      <vt:lpstr>Se configura el external location bronze</vt:lpstr>
      <vt:lpstr>Se configura el external location silver</vt:lpstr>
      <vt:lpstr>Se configura el external location golden</vt:lpstr>
      <vt:lpstr>Se crear el metastore para gobernar en Unit Catalog</vt:lpstr>
      <vt:lpstr>Se crear workspace</vt:lpstr>
      <vt:lpstr>Contanier metastore y contanier asociados</vt:lpstr>
      <vt:lpstr>Creación de catálogo y sus esquemas</vt:lpstr>
      <vt:lpstr>Insumos en la capa Raw</vt:lpstr>
      <vt:lpstr>Container para el registro a nivel de capas</vt:lpstr>
      <vt:lpstr>Capa Bronze</vt:lpstr>
      <vt:lpstr>Capa Silver</vt:lpstr>
      <vt:lpstr>Capa Golden</vt:lpstr>
      <vt:lpstr>Disponibilizando información de la capa Golden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Mendoza</dc:creator>
  <cp:lastModifiedBy>Raul Mendoza</cp:lastModifiedBy>
  <cp:revision>9</cp:revision>
  <dcterms:created xsi:type="dcterms:W3CDTF">2025-11-14T07:21:28Z</dcterms:created>
  <dcterms:modified xsi:type="dcterms:W3CDTF">2025-11-14T08:00:24Z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